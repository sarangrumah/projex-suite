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80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0EA5E9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ProjeX Suite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Project Management Platform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power of Jira. All the breadth of ClickUp.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complexity. Your data stays yours.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Presentation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SSIT | Product Owner ·  April 2026  ·  Confidential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0"/>
            <a:ext cx="822960" cy="822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Indonesian software teams need a better PM tool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0876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Worklog is Painful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874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Jira → find project → find task → Log Work.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min/day wasted per developer.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83280" y="13716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371600"/>
            <a:ext cx="54864" cy="150876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5087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Expensive at Scale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66160" y="1874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+ Confluence + Tempo = $22-35/user/mo.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people = $440-700/month.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0" y="13716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371600"/>
            <a:ext cx="54864" cy="15087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5087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 Drift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0" y="1874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BRD/FSD in scattered tools.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updated after code ships.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06324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3063240"/>
            <a:ext cx="54864" cy="15087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004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3172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Cloud-Only, No Sovereignty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31520" y="3566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ClickUp: data on US servers.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 with UU PDP.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383280" y="306324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83280" y="3063240"/>
            <a:ext cx="54864" cy="1508760"/>
          </a:xfrm>
          <a:prstGeom prst="rect">
            <a:avLst/>
          </a:prstGeom>
          <a:solidFill>
            <a:srgbClr val="25D366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2004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77640" y="3172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WhatsApp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566160" y="3566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Indonesian teams use WA but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PM tool has native integration.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217920" y="306324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3063240"/>
            <a:ext cx="54864" cy="1508760"/>
          </a:xfrm>
          <a:prstGeom prst="rect">
            <a:avLst/>
          </a:prstGeom>
          <a:solidFill>
            <a:srgbClr val="0A66C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20040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12280" y="3172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Complex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00800" y="3566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Jira: steep learning curve.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ClickUp: 8 nav levels, 2-3 weeks.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that replaces Jira + Confluence + Tempo + ClickUp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371600"/>
            <a:ext cx="54864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8892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7160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37160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1371600"/>
            <a:ext cx="54864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90372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26517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ProjeX Core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modules: Full Jira Software parity + 10 ClickUp views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AI Assistant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worklog, sprint analysis, doc auto-updater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AppCatalog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BRD/FSD/TechSpec lifecycle with SemVerDoc + GitHub AI sync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Budget + WA-Hub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tracking, e-Faktur invoicing, WhatsApp automation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No Competitor Has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191341"/>
              </p:ext>
            </p:extLst>
          </p:nvPr>
        </p:nvGraphicFramePr>
        <p:xfrm>
          <a:off x="365760" y="1005840"/>
          <a:ext cx="8412480" cy="3246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Agile PM (Scrum/Kanban)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 Views (Gantt, Workload, Whiteboard)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6 views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Timesheet + Approval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Plugin $$$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No approval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Built-in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Worklog (natural language)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ERA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reads GitHub → updates docs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AppCatalog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BRD/FSD/TechSpec Lifecycle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SemVerDoc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+ e-Faktur Invoicing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ERA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Notifications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WA-Hub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(data sovereignty)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DC $$$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Cloud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Docker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Indonesian Localization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54864" cy="64008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66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0515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 · Client Portal · AppCatalog Portal · PWA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E9"/>
                </a:solidFill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8046720" cy="640080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54864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828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JWT Auth · Tenant Context · RBAC · OpenAPI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0" y="2377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E9"/>
                </a:solidFill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solidFill>
            <a:srgbClr val="EDE9F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606040"/>
            <a:ext cx="54864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MICROSERVICES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6060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(40 mod) · ERA AI · ERA Budget · WA-Hub · AppCatalog · Collab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E9"/>
                </a:solidFill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8046720" cy="640080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383280"/>
            <a:ext cx="54864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33832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Redis 7 · Meilisearch · MinIO · Ollama · Vault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3931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E9"/>
                </a:solidFill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160520"/>
            <a:ext cx="54864" cy="640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60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41605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(18 containers) · Caddy · Prometheus · Trivy · Falco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45+ Modules Across 6 Services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54864" cy="54864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66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65960" y="1024128"/>
            <a:ext cx="594360" cy="420624"/>
          </a:xfrm>
          <a:prstGeom prst="rect">
            <a:avLst/>
          </a:prstGeom>
          <a:solidFill>
            <a:srgbClr val="0A66C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9601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· Work Items · Custom Fields · Kanban · Scrum · Backlog · Sprints · Workflow Engine · PQL Search · Automation (100+ templates) · RBAC · Notifications · List · Calendar · Gantt · Workload · Table · Mind Map · Whiteboard · Portfolio · Forms · Reports · Dashboards · Import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18488"/>
            <a:ext cx="54864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184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65960" y="1682496"/>
            <a:ext cx="594360" cy="420624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61848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 (grid+timer+approval) · Wiki/Docs (real-time collab) · Goals/OKR · Chat · Git Integration · CR Management · Work Summary · BoD Dashboard · PO Dashboard · Client Portal · Recurring Tasks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76856"/>
            <a:ext cx="54864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7685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 AI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5960" y="2340864"/>
            <a:ext cx="594360" cy="420624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227685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Worklog · Sprint Analysis · AI Standup · Text-to-SQL · Task Creation · AI Planner · GitHub Reader · Doc Auto-Updater · AI Search · Proactive Alerts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935224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35224"/>
            <a:ext cx="54864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3522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 BUDGET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65960" y="2999232"/>
            <a:ext cx="594360" cy="420624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93522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Planning · Cost Tracking · Invoicing · e-Faktur · Xendit/Midtrans · Cost Centers · CAPEX/OPEX · Profitability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593592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93592"/>
            <a:ext cx="54864" cy="548640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5935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D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WA-HUB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65960" y="3657600"/>
            <a:ext cx="594360" cy="420624"/>
          </a:xfrm>
          <a:prstGeom prst="rect">
            <a:avLst/>
          </a:prstGeom>
          <a:solidFill>
            <a:srgbClr val="25D36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0" y="35935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Alerts · Timesheet Reminder · CR Notification · Client Reports · Custom Triggers · Templates · Broadcast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25196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51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APPCATALOG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65960" y="4315968"/>
            <a:ext cx="594360" cy="420624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0" y="42519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Registry · BRD/FSD/TechSpec Lifecycle · SemVerDoc · GitHub Sync · AI Doc Generation · Dependency Graph · Audit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 AI Assistant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that makes project management effortless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“Log 2 jam untuk task intercompany”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parses intent, matches work item, pre-fills form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click confirm. Done in under 5 seconds.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260604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46888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 Worklog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time with natural language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83280" y="2468880"/>
            <a:ext cx="260604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246888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356616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Analysis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6616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charts + blocker detection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17920" y="2468880"/>
            <a:ext cx="260604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246888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Text-to-SQL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data in plain language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" y="3657600"/>
            <a:ext cx="260604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365760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Reader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152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PRs, maps to doc sections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383280" y="3657600"/>
            <a:ext cx="260604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383280" y="365760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2"/>
          <p:cNvSpPr/>
          <p:nvPr/>
        </p:nvSpPr>
        <p:spPr>
          <a:xfrm>
            <a:off x="356616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 Auto-Update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56616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Auto-updates BRD/FSD/TechSpec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217920" y="3657600"/>
            <a:ext cx="260604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17920" y="365760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Alerts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0080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before problems escalate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Ollama (local LLM) — your data never leaves your server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AppCatalog — Crown Jewel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manages product documentation lifecycle with AI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280160"/>
            <a:ext cx="1463040" cy="731520"/>
          </a:xfrm>
          <a:prstGeom prst="rect">
            <a:avLst/>
          </a:prstGeom>
          <a:solidFill>
            <a:srgbClr val="0A66C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PR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828800" y="13716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EA5E9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148840" y="1280160"/>
            <a:ext cx="1463040" cy="7315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14884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11880" y="13716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EA5E9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931920" y="1280160"/>
            <a:ext cx="1463040" cy="731520"/>
          </a:xfrm>
          <a:prstGeom prst="rect">
            <a:avLst/>
          </a:prstGeom>
          <a:solidFill>
            <a:srgbClr val="7C3AE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93192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Diff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394960" y="13716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EA5E9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715000" y="1280160"/>
            <a:ext cx="1463040" cy="731520"/>
          </a:xfrm>
          <a:prstGeom prst="rect">
            <a:avLst/>
          </a:prstGeom>
          <a:solidFill>
            <a:srgbClr val="D9770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1500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Doc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78040" y="13716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EA5E9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7498080" y="1280160"/>
            <a:ext cx="1463040" cy="731520"/>
          </a:xfrm>
          <a:prstGeom prst="rect">
            <a:avLst/>
          </a:prstGeom>
          <a:solidFill>
            <a:srgbClr val="05966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9808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Reviews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Approves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Features: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" y="26517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registry with owner, team, and GitHub repos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BRD, FSD, TechSpec entities (not just file links)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SemVerDoc versioning (MAJOR.MINOR.PATCH for documents)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auto-generates doc updates from code changes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diff view (red/green inline, like GitHub PR)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audit trail (tamper-evident compliance)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notified when AI suggests changes → review task created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Security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security controls · Military-grade encryption · Data sovereignty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260604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371600"/>
            <a:ext cx="54864" cy="1325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AES-256 Encryption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PII encrypted at rest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in transit + mTLS internal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83280" y="1371600"/>
            <a:ext cx="260604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371600"/>
            <a:ext cx="54864" cy="1325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Isolation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6616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Schema-per-tenant in PostgreSQL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tenant_id in every single query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17920" y="1371600"/>
            <a:ext cx="260604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1371600"/>
            <a:ext cx="54864" cy="1325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 Hardening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Rootless Docker, read-only FS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cap_drop ALL, no-new-privileges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2926080"/>
            <a:ext cx="260604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2926080"/>
            <a:ext cx="54864" cy="1325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Hash-Chained Audit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" y="3429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append-only log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21 CFR Part 11 compatible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383280" y="2926080"/>
            <a:ext cx="260604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383280" y="2926080"/>
            <a:ext cx="54864" cy="1325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1"/>
          <p:cNvSpPr/>
          <p:nvPr/>
        </p:nvSpPr>
        <p:spPr>
          <a:xfrm>
            <a:off x="356616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WAF + DDoS Protection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566160" y="3429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+ OWASP CRS rules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DDoS shield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0" y="2926080"/>
            <a:ext cx="260604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2926080"/>
            <a:ext cx="54864" cy="1325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Secret Management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00800" y="3429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auto-rotation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&amp; Space Requirements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100584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66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 GB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(Y1)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06040" y="109728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1188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GB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88920" y="1691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Needed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54864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188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vCPU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109728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20840" y="1097280"/>
            <a:ext cx="54864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188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03720" y="1691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975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vCPU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GB SSD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7b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(all-in-one)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vCPU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16-32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GB SSD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14b = 10GB 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(split)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4+4 vCPU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8+16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80+20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server + AI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Y1 = 10 tenants (35 GB) → Y2 = 50 tenants (100 GB) → Y3 = 200 tenants (Kubernetes)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weeks from start to GA Launch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341120" cy="256032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89760" y="1280160"/>
            <a:ext cx="1005840" cy="256032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7" name="Text 5"/>
          <p:cNvSpPr/>
          <p:nvPr/>
        </p:nvSpPr>
        <p:spPr>
          <a:xfrm>
            <a:off x="1889760" y="12801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95600" y="1280160"/>
            <a:ext cx="670560" cy="256032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9" name="Text 7"/>
          <p:cNvSpPr/>
          <p:nvPr/>
        </p:nvSpPr>
        <p:spPr>
          <a:xfrm>
            <a:off x="2895600" y="1280160"/>
            <a:ext cx="67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566160" y="1280160"/>
            <a:ext cx="67056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280160"/>
            <a:ext cx="67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27576" y="960120"/>
            <a:ext cx="18288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3779520" y="777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36720" y="1280160"/>
            <a:ext cx="670560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4236720" y="1280160"/>
            <a:ext cx="67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07280" y="1280160"/>
            <a:ext cx="502920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4907280" y="12801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10200" y="1280160"/>
            <a:ext cx="502920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5410200" y="12801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13120" y="1280160"/>
            <a:ext cx="83820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913120" y="1280160"/>
            <a:ext cx="838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42176" y="960120"/>
            <a:ext cx="18288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294120" y="777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51320" y="1280160"/>
            <a:ext cx="670560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751320" y="1280160"/>
            <a:ext cx="67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421880" y="1280160"/>
            <a:ext cx="502920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7421880" y="12801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924800" y="1280160"/>
            <a:ext cx="67056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7924800" y="1280160"/>
            <a:ext cx="67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586216" y="960120"/>
            <a:ext cx="18288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8138160" y="777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150728"/>
              </p:ext>
            </p:extLst>
          </p:nvPr>
        </p:nvGraphicFramePr>
        <p:xfrm>
          <a:off x="457200" y="2103120"/>
          <a:ext cx="8229600" cy="1036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What’s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LAUNCH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+ Board + Sprint + Timesheet + ERA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LAUNCH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views + Dashboards + Wiki + AppCatalog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 LAUNCH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platform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ERA Budget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WA-Hub + SaaS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54864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12+ (ongoing): Mobile app, Plugin SDK, Marketplace, OKR advanced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Model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12423"/>
              </p:ext>
            </p:extLst>
          </p:nvPr>
        </p:nvGraphicFramePr>
        <p:xfrm>
          <a:off x="457200" y="1005840"/>
          <a:ext cx="8229600" cy="15087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ProjeX 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users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49k/user/mo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99k/user/mo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queries/day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199k/mo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499k/mo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WA-Hub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199k/mo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399k/mo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AppCatalog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products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 +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comparison: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749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+ Confluence + Tempo: $22-35/user/mo (~Rp 350-550k)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ProjeX Premium + All Add-ons: Rp 99k/user + Rp 799k/mo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users: Jira stack = Rp 7-11jt/mo vs ProjeX = Rp 2.8jt/mo  →  60-75% savings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 &amp; Mitigation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7602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P×I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 (45 modules)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MVP scope (Phase 1-4 only); defer non-critical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dev bottleneck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acceleration; hire contractors Phase 5+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adoption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Generous free tier; Jira import; pilot existing clients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vulnerability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Security-by-design; Trivy CI; pentest before launch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data leak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isolation; tenant_id enforcement; pentest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hallucination in docs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AI outputs require human review; PATCH auto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Documentation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documents covering every aspect of the platform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60273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Charter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DOC-PC-001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Vision, scope, budget, timeline, risks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Requirements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DOC-BRD-001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 BRs + 25 NFRs + 15 business rules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DOC-FSD-001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use cases, UI wireframes, validations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DOC-TSD-001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Architecture, 32 DB tables, 40 APIs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Blueprint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DOC-SAB-001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Infrastructure, network, backup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Dictionary &amp; ERD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DOC-DD-001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relationships, field catalog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DOC-API-001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REST endpoints, conventions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Architecture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DOC-SAD-001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STRIDE model, 19 security controls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Strategy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DOC-TS-001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test levels, 10 E2E scenarios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DOC-DP-001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CI/CD, Docker, rollback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DOC-PP-001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phases, milestones, resources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Register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DOC-RR-001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risks with P×I scoring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Traceability Matrix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DOC-RTM-001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BR→FSD→TSD→Test mapping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5448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5544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1188720"/>
            <a:ext cx="155448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94560" y="1188720"/>
            <a:ext cx="155448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66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9456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31920" y="1188720"/>
            <a:ext cx="155448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31920" y="1188720"/>
            <a:ext cx="1554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93192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0" y="1188720"/>
            <a:ext cx="155448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1188720"/>
            <a:ext cx="15544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66928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06640" y="1188720"/>
            <a:ext cx="155448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06640" y="1188720"/>
            <a:ext cx="15544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40664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155448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017520"/>
            <a:ext cx="1554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45720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94560" y="3017520"/>
            <a:ext cx="155448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194560" y="3017520"/>
            <a:ext cx="155448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0" name="Text 28"/>
          <p:cNvSpPr/>
          <p:nvPr/>
        </p:nvSpPr>
        <p:spPr>
          <a:xfrm>
            <a:off x="219456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66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219456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931920" y="3017520"/>
            <a:ext cx="155448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931920" y="3017520"/>
            <a:ext cx="15544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393192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393192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0" y="3017520"/>
            <a:ext cx="155448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669280" y="3017520"/>
            <a:ext cx="15544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566928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06640" y="3017520"/>
            <a:ext cx="155448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06640" y="3017520"/>
            <a:ext cx="15544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740664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740664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Criteria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(Sep 2026)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auth with data isolation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+ Scrum boards with drag-drop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 grid + timer + approval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AI: NL worklog &lt; 5 seconds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encryption, zero critical vulns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402336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66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 (Mar 2027)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45 modules functional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AppCatalog auto-updates docs on merge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SaaS tenants with custom branding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&lt; 2s, API p95 &lt; 500ms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penetration 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Finalize Budget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44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 estimates with actual VPS, labor, and service costs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66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Development Environment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1214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VPS, install Docker, configure CI/CD pipeline with GitHub Actions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54864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Kickoff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8986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Foundation (8 weeks): Auth + RBAC + Multi-tenant + Spaces + Work Items + Kanban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37560"/>
            <a:ext cx="54864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872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Hire Contract Developers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675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backend dev (50%) for Phase 1-4, one frontend dev (50%) for Phase 5-8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114800"/>
            <a:ext cx="54864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8872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Client Engagement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4531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PT AIM and ERA MODE as beta testers for real-world validation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0EA5E9">
              <a:alpha val="5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ProjeX Suite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PM platform that combines Jira’s depth, ClickUp’s breadth,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documentation, and native Indonesian localization.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build the future of project management.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 Maryadi  ·  SSIT | Product Owner ·  stefanus.maryadi@erajaya.com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1792</Words>
  <Application>Microsoft Office PowerPoint</Application>
  <PresentationFormat>Peragaan Layar (16:9)</PresentationFormat>
  <Paragraphs>467</Paragraphs>
  <Slides>18</Slides>
  <Notes>18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ProjeX Suite - Executive Summary</dc:title>
  <dc:subject>PptxGenJS Presentation</dc:subject>
  <dc:creator>Ade Maryadi - Bima Creative Tech</dc:creator>
  <cp:lastModifiedBy>Stefanus Ade Maryadi</cp:lastModifiedBy>
  <cp:revision>2</cp:revision>
  <dcterms:created xsi:type="dcterms:W3CDTF">2026-04-13T22:02:16Z</dcterms:created>
  <dcterms:modified xsi:type="dcterms:W3CDTF">2026-04-13T22:13:06Z</dcterms:modified>
</cp:coreProperties>
</file>